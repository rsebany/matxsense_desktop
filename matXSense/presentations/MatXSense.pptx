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Open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28.jpeg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284756" y="934423"/>
            <a:ext cx="597454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This presentation has live demo at the end</a:t>
            </a:r>
          </a:p>
        </p:txBody>
      </p:sp>
      <p:sp>
        <p:nvSpPr>
          <p:cNvPr id="5" name="Freeform 5"/>
          <p:cNvSpPr/>
          <p:nvPr/>
        </p:nvSpPr>
        <p:spPr>
          <a:xfrm>
            <a:off x="10788871" y="982048"/>
            <a:ext cx="338117" cy="338117"/>
          </a:xfrm>
          <a:custGeom>
            <a:avLst/>
            <a:gdLst/>
            <a:ahLst/>
            <a:cxnLst/>
            <a:rect l="l" t="t" r="r" b="b"/>
            <a:pathLst>
              <a:path w="338117" h="338117">
                <a:moveTo>
                  <a:pt x="0" y="0"/>
                </a:moveTo>
                <a:lnTo>
                  <a:pt x="338117" y="0"/>
                </a:lnTo>
                <a:lnTo>
                  <a:pt x="338117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185" y="-236023"/>
            <a:ext cx="2774258" cy="2774258"/>
          </a:xfrm>
          <a:custGeom>
            <a:avLst/>
            <a:gdLst/>
            <a:ahLst/>
            <a:cxnLst/>
            <a:rect l="l" t="t" r="r" b="b"/>
            <a:pathLst>
              <a:path w="2774258" h="2774258">
                <a:moveTo>
                  <a:pt x="0" y="0"/>
                </a:moveTo>
                <a:lnTo>
                  <a:pt x="2774259" y="0"/>
                </a:lnTo>
                <a:lnTo>
                  <a:pt x="2774259" y="2774259"/>
                </a:lnTo>
                <a:lnTo>
                  <a:pt x="0" y="2774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78388" y="6403601"/>
            <a:ext cx="10280912" cy="6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Predicting material degradation under chemical and environmental stressors.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40369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Presented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742604"/>
            <a:ext cx="3943330" cy="107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927"/>
              </a:lnSpc>
              <a:buFont typeface="Arial"/>
              <a:buChar char="•"/>
            </a:pPr>
            <a:r>
              <a:rPr lang="en-US" sz="15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Romualdo SEBANY</a:t>
            </a:r>
          </a:p>
          <a:p>
            <a:pPr marL="345439" lvl="1" indent="-172720" algn="l">
              <a:lnSpc>
                <a:spcPts val="2927"/>
              </a:lnSpc>
              <a:buFont typeface="Arial"/>
              <a:buChar char="•"/>
            </a:pPr>
            <a:r>
              <a:rPr lang="en-US" sz="15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Martin Chauke</a:t>
            </a:r>
          </a:p>
          <a:p>
            <a:pPr marL="345439" lvl="1" indent="-172720" algn="l">
              <a:lnSpc>
                <a:spcPts val="2927"/>
              </a:lnSpc>
              <a:buFont typeface="Arial"/>
              <a:buChar char="•"/>
            </a:pPr>
            <a:r>
              <a:rPr lang="en-US" sz="15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Hamza Abdessamed BOUMAZA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95340" y="8440369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Presented To: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31342" y="9084678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BLAST HACKATON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85854" y="3950633"/>
            <a:ext cx="10773446" cy="122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17C3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Mat</a:t>
            </a:r>
            <a:r>
              <a:rPr lang="en-US" sz="10885" spc="-859">
                <a:solidFill>
                  <a:srgbClr val="1F4FD8"/>
                </a:solidFill>
                <a:latin typeface="Archivo Black"/>
                <a:ea typeface="Archivo Black"/>
                <a:cs typeface="Archivo Black"/>
                <a:sym typeface="Archivo Black"/>
              </a:rPr>
              <a:t>X</a:t>
            </a:r>
            <a:r>
              <a:rPr lang="en-US" sz="10885" spc="-859">
                <a:solidFill>
                  <a:srgbClr val="17C3B2"/>
                </a:solidFill>
                <a:latin typeface="Archivo Black"/>
                <a:ea typeface="Archivo Black"/>
                <a:cs typeface="Archivo Black"/>
                <a:sym typeface="Archivo Black"/>
              </a:rPr>
              <a:t>Sense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99594" y="1814513"/>
          <a:ext cx="5891416" cy="6572248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The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Our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Value proposition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Target Audience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Why Invest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B1C2D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Contacts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1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47868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37086" y="0"/>
            <a:ext cx="7201132" cy="10287000"/>
            <a:chOff x="0" y="0"/>
            <a:chExt cx="9601509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18624" r="18624"/>
            <a:stretch>
              <a:fillRect/>
            </a:stretch>
          </p:blipFill>
          <p:spPr>
            <a:xfrm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3637833" y="4905375"/>
            <a:ext cx="3930700" cy="301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20"/>
              </a:lnSpc>
            </a:pPr>
            <a:r>
              <a:rPr lang="en-US" sz="20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Heavy industries in Algeria : </a:t>
            </a:r>
          </a:p>
          <a:p>
            <a:pPr marL="863601" lvl="2" indent="-287867" algn="just">
              <a:lnSpc>
                <a:spcPts val="4920"/>
              </a:lnSpc>
              <a:buFont typeface="Arial"/>
              <a:buChar char="⚬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cement;</a:t>
            </a:r>
          </a:p>
          <a:p>
            <a:pPr marL="863601" lvl="2" indent="-287867" algn="just">
              <a:lnSpc>
                <a:spcPts val="4920"/>
              </a:lnSpc>
              <a:buFont typeface="Arial"/>
              <a:buChar char="⚬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chemical plants,</a:t>
            </a:r>
          </a:p>
          <a:p>
            <a:pPr marL="863601" lvl="2" indent="-287867" algn="just">
              <a:lnSpc>
                <a:spcPts val="4920"/>
              </a:lnSpc>
              <a:buFont typeface="Arial"/>
              <a:buChar char="⚬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mineral processing,</a:t>
            </a:r>
          </a:p>
          <a:p>
            <a:pPr marL="863600" lvl="2" indent="-287867" algn="just">
              <a:lnSpc>
                <a:spcPts val="4920"/>
              </a:lnSpc>
              <a:buFont typeface="Arial"/>
              <a:buChar char="⚬"/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pipeline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7601" y="3204273"/>
            <a:ext cx="274982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Manuel inspections ( slow + expensive 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239198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0166"/>
            <a:ext cx="358533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Unexpected equipment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failures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5139" y="4001198"/>
            <a:ext cx="7203393" cy="75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8"/>
              </a:lnSpc>
              <a:spcBef>
                <a:spcPct val="0"/>
              </a:spcBef>
            </a:pPr>
            <a:r>
              <a:rPr lang="en-US" sz="5608" spc="-443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404510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7601" y="5287073"/>
            <a:ext cx="312090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Corrosion from humidity, salinity, pH &amp; temperature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7601" y="7761416"/>
            <a:ext cx="312090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Production downtime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77094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17C3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17C3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095936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35212" y="3595450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5" y="0"/>
                </a:lnTo>
                <a:lnTo>
                  <a:pt x="1672525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19538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42818" y="6367169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70745" y="105187"/>
            <a:ext cx="2097587" cy="2569427"/>
          </a:xfrm>
          <a:custGeom>
            <a:avLst/>
            <a:gdLst/>
            <a:ahLst/>
            <a:cxnLst/>
            <a:rect l="l" t="t" r="r" b="b"/>
            <a:pathLst>
              <a:path w="2097587" h="2569427">
                <a:moveTo>
                  <a:pt x="0" y="0"/>
                </a:moveTo>
                <a:lnTo>
                  <a:pt x="2097587" y="0"/>
                </a:lnTo>
                <a:lnTo>
                  <a:pt x="2097587" y="2569427"/>
                </a:lnTo>
                <a:lnTo>
                  <a:pt x="0" y="2569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557564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906" y="2626989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AI-Powered Digital Twin Platform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1F4FD8"/>
                </a:solidFill>
                <a:latin typeface="Garet Bold"/>
                <a:ea typeface="Garet Bold"/>
                <a:cs typeface="Garet Bold"/>
                <a:sym typeface="Garet Bold"/>
              </a:rPr>
              <a:t>#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68585" y="4546927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1F4FD8"/>
                </a:solidFill>
                <a:latin typeface="Garet Bold"/>
                <a:ea typeface="Garet Bold"/>
                <a:cs typeface="Garet Bold"/>
                <a:sym typeface="Garet Bold"/>
              </a:rPr>
              <a:t>#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4020" y="7078855"/>
            <a:ext cx="501635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Real-time sensor monitoring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0675" y="5182134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Predict degradation &amp; Remaining Useful Life ( RUL 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52302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1F4FD8"/>
                </a:solidFill>
                <a:latin typeface="Garet Bold"/>
                <a:ea typeface="Garet Bold"/>
                <a:cs typeface="Garet Bold"/>
                <a:sym typeface="Garet Bold"/>
              </a:rPr>
              <a:t>#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47622" y="7078855"/>
            <a:ext cx="501635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Early warning alerts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54119" y="7838597"/>
            <a:ext cx="501635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maintenance optimization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5582" y="7243285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1F4FD8"/>
                </a:solidFill>
                <a:latin typeface="Garet Bold"/>
                <a:ea typeface="Garet Bold"/>
                <a:cs typeface="Garet Bold"/>
                <a:sym typeface="Garet Bold"/>
              </a:rPr>
              <a:t>#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 rot="159226">
            <a:off x="9797821" y="2328308"/>
            <a:ext cx="6881447" cy="6823784"/>
          </a:xfrm>
          <a:custGeom>
            <a:avLst/>
            <a:gdLst/>
            <a:ahLst/>
            <a:cxnLst/>
            <a:rect l="l" t="t" r="r" b="b"/>
            <a:pathLst>
              <a:path w="6965713" h="6978798">
                <a:moveTo>
                  <a:pt x="0" y="0"/>
                </a:moveTo>
                <a:lnTo>
                  <a:pt x="6965713" y="0"/>
                </a:lnTo>
                <a:lnTo>
                  <a:pt x="6965713" y="6978798"/>
                </a:lnTo>
                <a:lnTo>
                  <a:pt x="0" y="697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32083"/>
            <a:ext cx="811530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100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Value Proposition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7082" y="2365608"/>
            <a:ext cx="8076918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For factories 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79850" y="3306297"/>
            <a:ext cx="7664150" cy="815442"/>
            <a:chOff x="0" y="0"/>
            <a:chExt cx="10218867" cy="1087256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F4FD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#1</a:t>
              </a:r>
              <a:r>
                <a:rPr lang="en-US" sz="2499" b="1">
                  <a:solidFill>
                    <a:srgbClr val="17C3B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</a:t>
              </a: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Reduce downtime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79850" y="4415399"/>
            <a:ext cx="7664150" cy="815442"/>
            <a:chOff x="0" y="0"/>
            <a:chExt cx="10218867" cy="10872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F4FD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#2</a:t>
              </a: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Lower maintenance costs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9850" y="5526115"/>
            <a:ext cx="7664150" cy="815442"/>
            <a:chOff x="0" y="0"/>
            <a:chExt cx="10218867" cy="10872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F4FD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#3</a:t>
              </a: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Extend equipment lifetime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79850" y="6645331"/>
            <a:ext cx="7664150" cy="815442"/>
            <a:chOff x="0" y="0"/>
            <a:chExt cx="10218867" cy="10872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F4FD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#4</a:t>
              </a: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Improve safety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79850" y="7756048"/>
            <a:ext cx="7664150" cy="815442"/>
            <a:chOff x="0" y="0"/>
            <a:chExt cx="10218867" cy="108725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F4FD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#5</a:t>
              </a: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  Increase production uptime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516846">
            <a:off x="11094512" y="3407039"/>
            <a:ext cx="4400652" cy="383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5"/>
              </a:lnSpc>
            </a:pPr>
            <a:r>
              <a:rPr lang="en-US" sz="3330" b="1">
                <a:solidFill>
                  <a:srgbClr val="0B1C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 We don’t wait for materials to fail, we predict when </a:t>
            </a:r>
            <a:r>
              <a:rPr lang="en-US" sz="3330" b="1">
                <a:solidFill>
                  <a:srgbClr val="253F5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chemistry</a:t>
            </a:r>
            <a:r>
              <a:rPr lang="en-US" sz="3330" b="1">
                <a:solidFill>
                  <a:srgbClr val="0B1C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says they will. 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886898"/>
            <a:ext cx="5489373" cy="4121056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5629" r="-5629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B1C2D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3976715" y="5588278"/>
            <a:ext cx="5489373" cy="4121056"/>
            <a:chOff x="0" y="0"/>
            <a:chExt cx="8916670" cy="6694043"/>
          </a:xfrm>
        </p:grpSpPr>
        <p:sp>
          <p:nvSpPr>
            <p:cNvPr id="7" name="Freeform 7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692" r="-569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B1C2D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787906" y="4441109"/>
            <a:ext cx="7677549" cy="83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190"/>
              </a:lnSpc>
              <a:spcBef>
                <a:spcPct val="0"/>
              </a:spcBef>
            </a:pPr>
            <a:r>
              <a:rPr lang="en-US" sz="6190" spc="-489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 Audience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17C3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17C3B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14052283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159735">
            <a:off x="1716737" y="8514932"/>
            <a:ext cx="1411349" cy="921226"/>
          </a:xfrm>
          <a:custGeom>
            <a:avLst/>
            <a:gdLst/>
            <a:ahLst/>
            <a:cxnLst/>
            <a:rect l="l" t="t" r="r" b="b"/>
            <a:pathLst>
              <a:path w="1411349" h="921226">
                <a:moveTo>
                  <a:pt x="0" y="0"/>
                </a:moveTo>
                <a:lnTo>
                  <a:pt x="1411349" y="0"/>
                </a:lnTo>
                <a:lnTo>
                  <a:pt x="1411349" y="921226"/>
                </a:lnTo>
                <a:lnTo>
                  <a:pt x="0" y="9212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62887"/>
            <a:ext cx="9538645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do we make money 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67082" y="5640615"/>
            <a:ext cx="2710660" cy="815442"/>
            <a:chOff x="0" y="0"/>
            <a:chExt cx="3614213" cy="108725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253F5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1st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22859"/>
              <a:ext cx="3614213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Saas Subscription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05388" y="5640615"/>
            <a:ext cx="2978661" cy="1539342"/>
            <a:chOff x="0" y="0"/>
            <a:chExt cx="3971548" cy="205245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22859"/>
              <a:ext cx="3971548" cy="142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Sensor </a:t>
              </a:r>
            </a:p>
            <a:p>
              <a:pPr algn="l">
                <a:lnSpc>
                  <a:spcPts val="2859"/>
                </a:lnSpc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+</a:t>
              </a:r>
            </a:p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 deployement setup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82075" y="5640615"/>
            <a:ext cx="2731275" cy="1177392"/>
            <a:chOff x="0" y="0"/>
            <a:chExt cx="3641700" cy="1569856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3rd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22859"/>
              <a:ext cx="3641700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premium analytics modules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963582" y="5640615"/>
            <a:ext cx="4123962" cy="815442"/>
            <a:chOff x="0" y="0"/>
            <a:chExt cx="5498615" cy="1087256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B1C2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22859"/>
              <a:ext cx="5498615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B1C2D"/>
                  </a:solidFill>
                  <a:latin typeface="Garet"/>
                  <a:ea typeface="Garet"/>
                  <a:cs typeface="Garet"/>
                  <a:sym typeface="Garet"/>
                </a:rPr>
                <a:t>enterprise integrations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Message from project founder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234879"/>
            <a:ext cx="8007440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dirty="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Solving a real industrial pain point in as fast-growing industry 4.0 market with a recurring revenue model and strong technical </a:t>
            </a:r>
            <a:r>
              <a:rPr lang="en-US" sz="2099" dirty="0" err="1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barries</a:t>
            </a:r>
            <a:r>
              <a:rPr lang="en-US" sz="2099" dirty="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 ( AI + chemistry + IoT ).</a:t>
            </a:r>
          </a:p>
          <a:p>
            <a:pPr algn="l">
              <a:lnSpc>
                <a:spcPts val="2939"/>
              </a:lnSpc>
            </a:pPr>
            <a:endParaRPr lang="en-US" sz="2099" dirty="0">
              <a:solidFill>
                <a:srgbClr val="0B1C2D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Built to scale across Africa.</a:t>
            </a:r>
          </a:p>
        </p:txBody>
      </p:sp>
      <p:sp>
        <p:nvSpPr>
          <p:cNvPr id="8" name="Freeform 8"/>
          <p:cNvSpPr/>
          <p:nvPr/>
        </p:nvSpPr>
        <p:spPr>
          <a:xfrm>
            <a:off x="12061906" y="2728607"/>
            <a:ext cx="4581040" cy="4856011"/>
          </a:xfrm>
          <a:custGeom>
            <a:avLst/>
            <a:gdLst/>
            <a:ahLst/>
            <a:cxnLst/>
            <a:rect l="l" t="t" r="r" b="b"/>
            <a:pathLst>
              <a:path w="4581040" h="4856011">
                <a:moveTo>
                  <a:pt x="0" y="0"/>
                </a:moveTo>
                <a:lnTo>
                  <a:pt x="4581040" y="0"/>
                </a:lnTo>
                <a:lnTo>
                  <a:pt x="4581040" y="4856011"/>
                </a:lnTo>
                <a:lnTo>
                  <a:pt x="0" y="4856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03" b="-23158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382898" y="7443493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83164" y="7388346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2" y="0"/>
                </a:lnTo>
                <a:lnTo>
                  <a:pt x="624692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81449" y="7422097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91091" y="2548016"/>
            <a:ext cx="2742383" cy="3529597"/>
          </a:xfrm>
          <a:custGeom>
            <a:avLst/>
            <a:gdLst/>
            <a:ahLst/>
            <a:cxnLst/>
            <a:rect l="l" t="t" r="r" b="b"/>
            <a:pathLst>
              <a:path w="2742383" h="3529597">
                <a:moveTo>
                  <a:pt x="0" y="0"/>
                </a:moveTo>
                <a:lnTo>
                  <a:pt x="2742383" y="0"/>
                </a:lnTo>
                <a:lnTo>
                  <a:pt x="2742383" y="3529597"/>
                </a:lnTo>
                <a:lnTo>
                  <a:pt x="0" y="3529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33" r="-150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255483" y="2548016"/>
            <a:ext cx="3098419" cy="3478983"/>
          </a:xfrm>
          <a:custGeom>
            <a:avLst/>
            <a:gdLst/>
            <a:ahLst/>
            <a:cxnLst/>
            <a:rect l="l" t="t" r="r" b="b"/>
            <a:pathLst>
              <a:path w="3098419" h="3478983">
                <a:moveTo>
                  <a:pt x="0" y="0"/>
                </a:moveTo>
                <a:lnTo>
                  <a:pt x="3098419" y="0"/>
                </a:lnTo>
                <a:lnTo>
                  <a:pt x="3098419" y="3478983"/>
                </a:lnTo>
                <a:lnTo>
                  <a:pt x="0" y="3478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3859" b="-10337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872037" y="2520109"/>
            <a:ext cx="3534798" cy="3534798"/>
          </a:xfrm>
          <a:custGeom>
            <a:avLst/>
            <a:gdLst/>
            <a:ahLst/>
            <a:cxnLst/>
            <a:rect l="l" t="t" r="r" b="b"/>
            <a:pathLst>
              <a:path w="3534798" h="3534798">
                <a:moveTo>
                  <a:pt x="0" y="0"/>
                </a:moveTo>
                <a:lnTo>
                  <a:pt x="3534797" y="0"/>
                </a:lnTo>
                <a:lnTo>
                  <a:pt x="3534797" y="3534797"/>
                </a:lnTo>
                <a:lnTo>
                  <a:pt x="0" y="35347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3853" y="6330464"/>
            <a:ext cx="393170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Martin Chauke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38218" y="6262962"/>
            <a:ext cx="411458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Hamza Abdessamed BOUMAZA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64938" y="683208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Electronic designer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79133" y="683208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Project Coordinator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16803" y="6330464"/>
            <a:ext cx="3931704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Romualdo SEBANY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22035" y="6832087"/>
            <a:ext cx="3261144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AI &amp; Software developer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72711" y="629716"/>
            <a:ext cx="9349166" cy="9274954"/>
          </a:xfrm>
          <a:custGeom>
            <a:avLst/>
            <a:gdLst/>
            <a:ahLst/>
            <a:cxnLst/>
            <a:rect l="l" t="t" r="r" b="b"/>
            <a:pathLst>
              <a:path w="9349166" h="9274954">
                <a:moveTo>
                  <a:pt x="0" y="0"/>
                </a:moveTo>
                <a:lnTo>
                  <a:pt x="9349166" y="0"/>
                </a:lnTo>
                <a:lnTo>
                  <a:pt x="9349166" y="9274954"/>
                </a:lnTo>
                <a:lnTo>
                  <a:pt x="0" y="9274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59" b="-29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481263"/>
            <a:ext cx="6118024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Visual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B1C2D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id="5" name="AutoShape 5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585133" y="9439271"/>
            <a:ext cx="18873133" cy="0"/>
          </a:xfrm>
          <a:prstGeom prst="line">
            <a:avLst/>
          </a:prstGeom>
          <a:ln w="9525" cap="rnd">
            <a:solidFill>
              <a:srgbClr val="0B1C2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8247" y="57120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martinchauke2003</a:t>
            </a:r>
            <a:r>
              <a:rPr lang="en-US" sz="2099" u="none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@gmail.com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30711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Social Media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8247" y="630467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linkedin.com/in/martin-chauke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923349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Phone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78247" y="6897314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+213-554-684-610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515987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Address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78247" y="7489952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123 Anywhere St., Any City, ST 12345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B1C2D"/>
                </a:solidFill>
                <a:latin typeface="Garet Bold"/>
                <a:ea typeface="Garet Bold"/>
                <a:cs typeface="Garet Bold"/>
                <a:sym typeface="Garet Bold"/>
              </a:rPr>
              <a:t>CONTACT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21703" y="576619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romualdosebany</a:t>
            </a:r>
            <a:r>
              <a:rPr lang="en-US" sz="2099" u="none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@gmail.com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21703" y="634150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inkedin.com/in/romualdo-sebany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21703" y="691681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213-655-871-889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21703" y="7489952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B1C2D"/>
                </a:solidFill>
                <a:latin typeface="Garet"/>
                <a:ea typeface="Garet"/>
                <a:cs typeface="Garet"/>
                <a:sym typeface="Garet"/>
              </a:rPr>
              <a:t>City 2 University Blida 1, Algeria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315</Words>
  <Application>Microsoft Office PowerPoint</Application>
  <PresentationFormat>Custom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 Bold</vt:lpstr>
      <vt:lpstr>Garet Bold</vt:lpstr>
      <vt:lpstr>Arial</vt:lpstr>
      <vt:lpstr>Calibri</vt:lpstr>
      <vt:lpstr>Garet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MATXDECK</dc:title>
  <cp:lastModifiedBy>SEBANY Romualdo</cp:lastModifiedBy>
  <cp:revision>3</cp:revision>
  <dcterms:created xsi:type="dcterms:W3CDTF">2006-08-16T00:00:00Z</dcterms:created>
  <dcterms:modified xsi:type="dcterms:W3CDTF">2026-01-31T01:29:00Z</dcterms:modified>
  <dc:identifier>DAG_7RSceUQ</dc:identifier>
</cp:coreProperties>
</file>