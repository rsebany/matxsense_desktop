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4" r:id="rId7"/>
    <p:sldId id="266" r:id="rId8"/>
    <p:sldId id="265" r:id="rId9"/>
  </p:sldIdLst>
  <p:sldSz cx="14630400" cy="8229600"/>
  <p:notesSz cx="8229600" cy="14630400"/>
  <p:embeddedFontLst>
    <p:embeddedFont>
      <p:font typeface="IBM Plex Sans Medium" panose="020B0603050203000203" pitchFamily="34" charset="0"/>
      <p:regular r:id="rId11"/>
    </p:embeddedFont>
    <p:embeddedFont>
      <p:font typeface="Roboto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16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B9D00-13E4-A905-7726-1041CF98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607531-4942-7D71-6513-DA7D02414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DCEAA-F3A0-841D-B3F0-000B72345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C0B3C-461D-6DAF-D0C3-ED4925713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20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18599" y="105981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MatXSense: Predictive Digital Twin for Material Integrity</a:t>
            </a:r>
            <a:endParaRPr lang="en-US" sz="4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818598" y="3412851"/>
            <a:ext cx="7556421" cy="175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Chemistry + Material Science + Machine  Learning + IoT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24253EA0-5536-A408-468F-D0BA096FAE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D18A3C3-D768-DF66-9679-ABFDD24645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5F3D5D-4001-537B-5113-C47A4952F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16" y="643758"/>
            <a:ext cx="6287217" cy="6044909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64337"/>
            <a:ext cx="566976" cy="5669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Silent Threat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93790" y="4605218"/>
            <a:ext cx="4158615" cy="121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Materials degrade unseen, leading to catastrophic failures due to manual inspections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264337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5893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High Costs &amp; Risks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5235893" y="46052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Expensive, infrequent monitoring means late detection and safety hazards.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264337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77995" y="411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Reactive Approach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9677995" y="46052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methods respond to failure, rather than preventing it.</a:t>
            </a:r>
            <a:endParaRPr lang="en-US" sz="17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22F6A-BC4B-F825-68F6-74929FED44D9}"/>
              </a:ext>
            </a:extLst>
          </p:cNvPr>
          <p:cNvSpPr txBox="1"/>
          <p:nvPr/>
        </p:nvSpPr>
        <p:spPr>
          <a:xfrm>
            <a:off x="491067" y="6316133"/>
            <a:ext cx="531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the time damage is visible, failures are costly and risky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FF1C1-6C07-471C-8633-0E8822AE7545}"/>
              </a:ext>
            </a:extLst>
          </p:cNvPr>
          <p:cNvSpPr txBox="1"/>
          <p:nvPr/>
        </p:nvSpPr>
        <p:spPr>
          <a:xfrm>
            <a:off x="793790" y="859669"/>
            <a:ext cx="74358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Problem Statement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Materials like steel, concrete, and polymers degrade silently due to environmental exposure. Current monitoring is expensive and reactive.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15672"/>
            <a:ext cx="5597843" cy="69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It Works</a:t>
            </a:r>
            <a:endParaRPr lang="en-US" sz="44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3669" y="1757363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Blending Chemistry Models with Machine Learning</a:t>
            </a:r>
            <a:endParaRPr lang="en-US" sz="2000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6170" y="3522731"/>
            <a:ext cx="653136" cy="653136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5079" y="3523955"/>
            <a:ext cx="653136" cy="65313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4599" y="3523955"/>
            <a:ext cx="653137" cy="653136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1057" y="3523955"/>
            <a:ext cx="653136" cy="65313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D3A7C-3730-0CD2-42D9-7FC5E03B98A7}"/>
              </a:ext>
            </a:extLst>
          </p:cNvPr>
          <p:cNvGrpSpPr/>
          <p:nvPr/>
        </p:nvGrpSpPr>
        <p:grpSpPr>
          <a:xfrm>
            <a:off x="2235932" y="2341401"/>
            <a:ext cx="10158532" cy="4649153"/>
            <a:chOff x="2235875" y="2245924"/>
            <a:chExt cx="10158532" cy="4649153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35875" y="2245924"/>
              <a:ext cx="10158532" cy="4649153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10014266" y="5723392"/>
              <a:ext cx="1907158" cy="734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b="1" dirty="0">
                  <a:solidFill>
                    <a:srgbClr val="D4D4D1"/>
                  </a:solidFill>
                  <a:latin typeface="IBM Plex Sans Medium" pitchFamily="34" charset="0"/>
                  <a:ea typeface="IBM Plex Sans Medium" pitchFamily="34" charset="-122"/>
                  <a:cs typeface="IBM Plex Sans Medium" pitchFamily="34" charset="-120"/>
                </a:rPr>
                <a:t>Predictive Insights</a:t>
              </a:r>
              <a:endParaRPr lang="en-US" b="1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7610724" y="5723392"/>
              <a:ext cx="1907158" cy="734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600" b="1" dirty="0">
                  <a:solidFill>
                    <a:srgbClr val="D4D4D1"/>
                  </a:solidFill>
                  <a:latin typeface="IBM Plex Sans Medium" pitchFamily="34" charset="0"/>
                  <a:ea typeface="IBM Plex Sans Medium" pitchFamily="34" charset="-122"/>
                  <a:cs typeface="IBM Plex Sans Medium" pitchFamily="34" charset="-120"/>
                </a:rPr>
                <a:t>Machine Learning</a:t>
              </a:r>
              <a:endParaRPr lang="en-US" sz="1600" b="1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5220245" y="5723392"/>
              <a:ext cx="1907158" cy="734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600" b="1" dirty="0">
                  <a:solidFill>
                    <a:srgbClr val="D4D4D1"/>
                  </a:solidFill>
                  <a:latin typeface="IBM Plex Sans Medium" pitchFamily="34" charset="0"/>
                  <a:ea typeface="IBM Plex Sans Medium" pitchFamily="34" charset="-122"/>
                  <a:cs typeface="IBM Plex Sans Medium" pitchFamily="34" charset="-120"/>
                </a:rPr>
                <a:t>Chemistry Models</a:t>
              </a:r>
              <a:endParaRPr lang="en-US" sz="1600" b="1" dirty="0"/>
            </a:p>
          </p:txBody>
        </p:sp>
        <p:sp>
          <p:nvSpPr>
            <p:cNvPr id="12" name="Text 5"/>
            <p:cNvSpPr/>
            <p:nvPr/>
          </p:nvSpPr>
          <p:spPr>
            <a:xfrm>
              <a:off x="2777514" y="5907087"/>
              <a:ext cx="1907159" cy="36738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50"/>
                </a:lnSpc>
                <a:buNone/>
              </a:pPr>
              <a:r>
                <a:rPr lang="en-US" sz="1600" b="1" dirty="0">
                  <a:solidFill>
                    <a:srgbClr val="D4D4D1"/>
                  </a:solidFill>
                  <a:latin typeface="IBM Plex Sans Medium" pitchFamily="34" charset="0"/>
                  <a:ea typeface="IBM Plex Sans Medium" pitchFamily="34" charset="-122"/>
                  <a:cs typeface="IBM Plex Sans Medium" pitchFamily="34" charset="-120"/>
                </a:rPr>
                <a:t>Data Input</a:t>
              </a:r>
              <a:endParaRPr lang="en-US" sz="1600" b="1" dirty="0"/>
            </a:p>
          </p:txBody>
        </p:sp>
      </p:grpSp>
      <p:sp>
        <p:nvSpPr>
          <p:cNvPr id="13" name="Text 6"/>
          <p:cNvSpPr/>
          <p:nvPr/>
        </p:nvSpPr>
        <p:spPr>
          <a:xfrm>
            <a:off x="783668" y="6931590"/>
            <a:ext cx="13063061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combine material science with cutting-edge AI to forecast degradation.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22319"/>
            <a:ext cx="69268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MatXSense Advantage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387036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46138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4849821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5521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Cost Savings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6011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unexpected repairs and downtime.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387036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0" name="Shape 6"/>
          <p:cNvSpPr/>
          <p:nvPr/>
        </p:nvSpPr>
        <p:spPr>
          <a:xfrm>
            <a:off x="5443776" y="46138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0942" y="4849821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3776" y="5521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Enhanced Safety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43776" y="6011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 failures, protect assets and lives.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387036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5" name="Shape 10"/>
          <p:cNvSpPr/>
          <p:nvPr/>
        </p:nvSpPr>
        <p:spPr>
          <a:xfrm>
            <a:off x="9866948" y="461385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BC8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25902" y="4864190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6948" y="5521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Sustainability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66948" y="601152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material lifespan, minimize waste.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262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Market Opportunity</a:t>
            </a:r>
            <a:endParaRPr lang="en-US" sz="445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9257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 Industries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691188"/>
            <a:ext cx="13042821" cy="1547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&amp; utilities (Oil &amp; Gas, Renewables)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Chemical processing facilities.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Aerospace &amp; Defense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Manufacturing plants &amp; Infrastructure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0540" y="891064"/>
            <a:ext cx="11188660" cy="202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                      </a:t>
            </a:r>
            <a:r>
              <a:rPr lang="en-US" sz="445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Competitive Advantage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(Value proposition)</a:t>
            </a:r>
            <a:endParaRPr lang="en-US" sz="445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1BB0B4-B233-A85C-01EF-77079D74BFC5}"/>
              </a:ext>
            </a:extLst>
          </p:cNvPr>
          <p:cNvSpPr txBox="1"/>
          <p:nvPr/>
        </p:nvSpPr>
        <p:spPr>
          <a:xfrm>
            <a:off x="1460540" y="3219450"/>
            <a:ext cx="10441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Faster to deploy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Reduced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Chemistry informed 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Designed for emerging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Bridges academic digital twins and heavy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12D3-3755-46CE-E6B0-431D51E9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43754C-EA70-BD9C-7224-CC48EAFE9E0D}"/>
              </a:ext>
            </a:extLst>
          </p:cNvPr>
          <p:cNvSpPr/>
          <p:nvPr/>
        </p:nvSpPr>
        <p:spPr>
          <a:xfrm>
            <a:off x="4423232" y="5363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IBM Plex Sans Medium" pitchFamily="34" charset="0"/>
              </a:rPr>
              <a:t>INNORICA</a:t>
            </a:r>
            <a:endParaRPr lang="en-US" sz="445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FC354F0-7133-368F-4637-37645C6705B1}"/>
              </a:ext>
            </a:extLst>
          </p:cNvPr>
          <p:cNvSpPr/>
          <p:nvPr/>
        </p:nvSpPr>
        <p:spPr>
          <a:xfrm>
            <a:off x="2465785" y="3468530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</a:rPr>
              <a:t>Romualdo </a:t>
            </a:r>
            <a:r>
              <a:rPr lang="en-US" sz="2200" dirty="0" err="1">
                <a:solidFill>
                  <a:srgbClr val="D4D4D1"/>
                </a:solidFill>
                <a:latin typeface="IBM Plex Sans Medium" pitchFamily="34" charset="0"/>
              </a:rPr>
              <a:t>Sebany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DDBA8C-A442-ABA8-45C4-C7BDA45FAAD5}"/>
              </a:ext>
            </a:extLst>
          </p:cNvPr>
          <p:cNvSpPr/>
          <p:nvPr/>
        </p:nvSpPr>
        <p:spPr>
          <a:xfrm>
            <a:off x="2465785" y="3958949"/>
            <a:ext cx="2429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development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</a:t>
            </a:r>
            <a:endParaRPr lang="en-US" sz="17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F56920B-E476-F2C0-768D-23561B72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547" y="3161587"/>
            <a:ext cx="1501854" cy="1501854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A037D2A-BD8A-4377-1DAA-8811B9BA0773}"/>
              </a:ext>
            </a:extLst>
          </p:cNvPr>
          <p:cNvSpPr/>
          <p:nvPr/>
        </p:nvSpPr>
        <p:spPr>
          <a:xfrm>
            <a:off x="6851215" y="3329227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</a:rPr>
              <a:t>Martin Chauke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05992E9-E35D-D248-AC5A-19E58ADFA54B}"/>
              </a:ext>
            </a:extLst>
          </p:cNvPr>
          <p:cNvSpPr/>
          <p:nvPr/>
        </p:nvSpPr>
        <p:spPr>
          <a:xfrm>
            <a:off x="6907888" y="3731062"/>
            <a:ext cx="2429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 student @ USTHB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Developer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ML/Data Science enthusiast</a:t>
            </a:r>
            <a:endParaRPr lang="en-US" sz="17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3C3DD880-770B-D188-30BA-FCC6D63E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49" y="3161587"/>
            <a:ext cx="1501854" cy="150185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A8B93C6B-B39F-09AE-B341-7DE321AB2A85}"/>
              </a:ext>
            </a:extLst>
          </p:cNvPr>
          <p:cNvSpPr/>
          <p:nvPr/>
        </p:nvSpPr>
        <p:spPr>
          <a:xfrm>
            <a:off x="11349990" y="3263028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</a:rPr>
              <a:t>Hamza</a:t>
            </a:r>
            <a:endParaRPr lang="en-US" sz="2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181EB13-161F-1424-42D3-CE015CD0D90A}"/>
              </a:ext>
            </a:extLst>
          </p:cNvPr>
          <p:cNvSpPr/>
          <p:nvPr/>
        </p:nvSpPr>
        <p:spPr>
          <a:xfrm>
            <a:off x="11406663" y="3777497"/>
            <a:ext cx="2429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Electronics Engineer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UI/UX designer, IoT</a:t>
            </a:r>
            <a:endParaRPr lang="en-US" sz="1750" dirty="0"/>
          </a:p>
        </p:txBody>
      </p:sp>
      <p:pic>
        <p:nvPicPr>
          <p:cNvPr id="1026" name="Picture 2" descr="Profile photo of Romualdo SEBANY">
            <a:extLst>
              <a:ext uri="{FF2B5EF4-FFF2-40B4-BE49-F238E27FC236}">
                <a16:creationId xmlns:a16="http://schemas.microsoft.com/office/drawing/2014/main" id="{7B9B5887-3206-DC6C-5FCD-C9ECDE71A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0" y="3161587"/>
            <a:ext cx="2069648" cy="1998807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3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93720" y="3406021"/>
            <a:ext cx="91453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</a:rPr>
              <a:t>QUESTIONS           &amp;        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244</Words>
  <Application>Microsoft Office PowerPoint</Application>
  <PresentationFormat>Custom</PresentationFormat>
  <Paragraphs>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IBM Plex Sans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</dc:creator>
  <cp:lastModifiedBy>MARTIN</cp:lastModifiedBy>
  <cp:revision>2</cp:revision>
  <dcterms:created xsi:type="dcterms:W3CDTF">2026-01-29T10:05:02Z</dcterms:created>
  <dcterms:modified xsi:type="dcterms:W3CDTF">2026-01-29T22:16:52Z</dcterms:modified>
</cp:coreProperties>
</file>